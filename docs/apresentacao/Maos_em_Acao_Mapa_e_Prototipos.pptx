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a0bf39a1514ec1" /><Relationship Type="http://schemas.openxmlformats.org/officeDocument/2006/relationships/extended-properties" Target="/docProps/app.xml" Id="R121792a1a6a5447d" /><Relationship Type="http://schemas.openxmlformats.org/officeDocument/2006/relationships/officeDocument" Target="/ppt/presentation.xml" Id="R9f9969ebc10b4e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89a3b3377c4b80"/>
  </p:sldMasterIdLst>
  <p:notesMasterIdLst>
    <p:notesMasterId xmlns:r="http://schemas.openxmlformats.org/officeDocument/2006/relationships" r:id="Rd6d0a0b9a7dd46c9"/>
  </p:notesMasterIdLst>
  <p:sldIdLst>
    <p:sldId xmlns:r="http://schemas.openxmlformats.org/officeDocument/2006/relationships" id="256" r:id="R2b5dd5ee50974f11"/>
    <p:sldId xmlns:r="http://schemas.openxmlformats.org/officeDocument/2006/relationships" id="257" r:id="R4b40d9ab0eae4f82"/>
    <p:sldId xmlns:r="http://schemas.openxmlformats.org/officeDocument/2006/relationships" id="258" r:id="R2789302b2ecc450e"/>
    <p:sldId xmlns:r="http://schemas.openxmlformats.org/officeDocument/2006/relationships" id="259" r:id="R7bc3f021b65b44fd"/>
    <p:sldId xmlns:r="http://schemas.openxmlformats.org/officeDocument/2006/relationships" id="260" r:id="R9158fb56e62d4825"/>
    <p:sldId xmlns:r="http://schemas.openxmlformats.org/officeDocument/2006/relationships" id="261" r:id="Rcf66857fb8b24669"/>
    <p:sldId xmlns:r="http://schemas.openxmlformats.org/officeDocument/2006/relationships" id="262" r:id="R5b02851f9376487f"/>
    <p:sldId xmlns:r="http://schemas.openxmlformats.org/officeDocument/2006/relationships" id="263" r:id="R6753de44217a4b7f"/>
    <p:sldId xmlns:r="http://schemas.openxmlformats.org/officeDocument/2006/relationships" id="264" r:id="R26f2370a62a64233"/>
    <p:sldId xmlns:r="http://schemas.openxmlformats.org/officeDocument/2006/relationships" id="265" r:id="R5b3cfed7d9534f09"/>
    <p:sldId xmlns:r="http://schemas.openxmlformats.org/officeDocument/2006/relationships" id="266" r:id="R3649c9926cd94b26"/>
    <p:sldId xmlns:r="http://schemas.openxmlformats.org/officeDocument/2006/relationships" id="267" r:id="Rc1f6fabe113748d5"/>
    <p:sldId xmlns:r="http://schemas.openxmlformats.org/officeDocument/2006/relationships" id="268" r:id="R646501bb7ff04682"/>
    <p:sldId xmlns:r="http://schemas.openxmlformats.org/officeDocument/2006/relationships" id="269" r:id="Rf08c174b4f3545c6"/>
    <p:sldId xmlns:r="http://schemas.openxmlformats.org/officeDocument/2006/relationships" id="270" r:id="Rae1e29732d374300"/>
    <p:sldId xmlns:r="http://schemas.openxmlformats.org/officeDocument/2006/relationships" id="271" r:id="Rfd3ec4cb71d84933"/>
    <p:sldId xmlns:r="http://schemas.openxmlformats.org/officeDocument/2006/relationships" id="272" r:id="R6aecc55dafed4e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49dde465e543b4" /><Relationship Type="http://schemas.openxmlformats.org/officeDocument/2006/relationships/slideMaster" Target="/ppt/slideMasters/slideMaster1.xml" Id="R3789a3b3377c4b80" /><Relationship Type="http://schemas.openxmlformats.org/officeDocument/2006/relationships/notesMaster" Target="/ppt/notesMasters/notesMaster1.xml" Id="Rd6d0a0b9a7dd46c9" /><Relationship Type="http://schemas.openxmlformats.org/officeDocument/2006/relationships/presProps" Target="/ppt/presProps.xml" Id="Rbb980bb28c614516" /><Relationship Type="http://schemas.openxmlformats.org/officeDocument/2006/relationships/tableStyles" Target="/ppt/tableStyles.xml" Id="R2307375afe294873" /><Relationship Type="http://schemas.openxmlformats.org/officeDocument/2006/relationships/slide" Target="/ppt/slides/slide1.xml" Id="R2b5dd5ee50974f11" /><Relationship Type="http://schemas.openxmlformats.org/officeDocument/2006/relationships/slide" Target="/ppt/slides/slide2.xml" Id="R4b40d9ab0eae4f82" /><Relationship Type="http://schemas.openxmlformats.org/officeDocument/2006/relationships/slide" Target="/ppt/slides/slide3.xml" Id="R2789302b2ecc450e" /><Relationship Type="http://schemas.openxmlformats.org/officeDocument/2006/relationships/slide" Target="/ppt/slides/slide4.xml" Id="R7bc3f021b65b44fd" /><Relationship Type="http://schemas.openxmlformats.org/officeDocument/2006/relationships/slide" Target="/ppt/slides/slide5.xml" Id="R9158fb56e62d4825" /><Relationship Type="http://schemas.openxmlformats.org/officeDocument/2006/relationships/slide" Target="/ppt/slides/slide6.xml" Id="Rcf66857fb8b24669" /><Relationship Type="http://schemas.openxmlformats.org/officeDocument/2006/relationships/slide" Target="/ppt/slides/slide7.xml" Id="R5b02851f9376487f" /><Relationship Type="http://schemas.openxmlformats.org/officeDocument/2006/relationships/slide" Target="/ppt/slides/slide8.xml" Id="R6753de44217a4b7f" /><Relationship Type="http://schemas.openxmlformats.org/officeDocument/2006/relationships/slide" Target="/ppt/slides/slide9.xml" Id="R26f2370a62a64233" /><Relationship Type="http://schemas.openxmlformats.org/officeDocument/2006/relationships/slide" Target="/ppt/slides/slide10.xml" Id="R5b3cfed7d9534f09" /><Relationship Type="http://schemas.openxmlformats.org/officeDocument/2006/relationships/slide" Target="/ppt/slides/slide11.xml" Id="R3649c9926cd94b26" /><Relationship Type="http://schemas.openxmlformats.org/officeDocument/2006/relationships/slide" Target="/ppt/slides/slide12.xml" Id="Rc1f6fabe113748d5" /><Relationship Type="http://schemas.openxmlformats.org/officeDocument/2006/relationships/slide" Target="/ppt/slides/slide13.xml" Id="R646501bb7ff04682" /><Relationship Type="http://schemas.openxmlformats.org/officeDocument/2006/relationships/slide" Target="/ppt/slides/slide14.xml" Id="Rf08c174b4f3545c6" /><Relationship Type="http://schemas.openxmlformats.org/officeDocument/2006/relationships/slide" Target="/ppt/slides/slide15.xml" Id="Rae1e29732d374300" /><Relationship Type="http://schemas.openxmlformats.org/officeDocument/2006/relationships/slide" Target="/ppt/slides/slide16.xml" Id="Rfd3ec4cb71d84933" /><Relationship Type="http://schemas.openxmlformats.org/officeDocument/2006/relationships/slide" Target="/ppt/slides/slide17.xml" Id="R6aecc55dafed4e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4251ee40c742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b843684ba94e41" /><Relationship Type="http://schemas.openxmlformats.org/officeDocument/2006/relationships/notesMaster" Target="/ppt/notesMasters/notesMaster1.xml" Id="R07a4ff8c4466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1296bccb7d4b8b" /><Relationship Type="http://schemas.openxmlformats.org/officeDocument/2006/relationships/notesMaster" Target="/ppt/notesMasters/notesMaster1.xml" Id="R1b1be9adbbc141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a0e815c7614f12" /><Relationship Type="http://schemas.openxmlformats.org/officeDocument/2006/relationships/notesMaster" Target="/ppt/notesMasters/notesMaster1.xml" Id="Rdb2a71c7f55140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7927fe933a4354" /><Relationship Type="http://schemas.openxmlformats.org/officeDocument/2006/relationships/notesMaster" Target="/ppt/notesMasters/notesMaster1.xml" Id="R6100a55aa82d4d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70718601fa4d72" /><Relationship Type="http://schemas.openxmlformats.org/officeDocument/2006/relationships/notesMaster" Target="/ppt/notesMasters/notesMaster1.xml" Id="Rdd5583e8319d4f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35728201cd4846" /><Relationship Type="http://schemas.openxmlformats.org/officeDocument/2006/relationships/notesMaster" Target="/ppt/notesMasters/notesMaster1.xml" Id="R5f46182cc70047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ce40446b4548cf" /><Relationship Type="http://schemas.openxmlformats.org/officeDocument/2006/relationships/notesMaster" Target="/ppt/notesMasters/notesMaster1.xml" Id="R0eee253c7df24a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76618fca714c5a" /><Relationship Type="http://schemas.openxmlformats.org/officeDocument/2006/relationships/notesMaster" Target="/ppt/notesMasters/notesMaster1.xml" Id="Rf6e1760630cd4a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fa37cb9a2f4ec5" /><Relationship Type="http://schemas.openxmlformats.org/officeDocument/2006/relationships/notesMaster" Target="/ppt/notesMasters/notesMaster1.xml" Id="R9e0796f62c3c41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0d19505ee3473e" /><Relationship Type="http://schemas.openxmlformats.org/officeDocument/2006/relationships/notesMaster" Target="/ppt/notesMasters/notesMaster1.xml" Id="R0674bf730aa641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92ca0e510e4682" /><Relationship Type="http://schemas.openxmlformats.org/officeDocument/2006/relationships/notesMaster" Target="/ppt/notesMasters/notesMaster1.xml" Id="R82c637c770b34a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3763c913f848c5" /><Relationship Type="http://schemas.openxmlformats.org/officeDocument/2006/relationships/notesMaster" Target="/ppt/notesMasters/notesMaster1.xml" Id="R423cba9f342547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1ee857724d48d7" /><Relationship Type="http://schemas.openxmlformats.org/officeDocument/2006/relationships/notesMaster" Target="/ppt/notesMasters/notesMaster1.xml" Id="R32cc6e2ea7564d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d9788d2a754a6b" /><Relationship Type="http://schemas.openxmlformats.org/officeDocument/2006/relationships/notesMaster" Target="/ppt/notesMasters/notesMaster1.xml" Id="R0254dda2e94842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060f0fae3c4007" /><Relationship Type="http://schemas.openxmlformats.org/officeDocument/2006/relationships/notesMaster" Target="/ppt/notesMasters/notesMaster1.xml" Id="R4be40278d19542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af4cec5f464122" /><Relationship Type="http://schemas.openxmlformats.org/officeDocument/2006/relationships/notesMaster" Target="/ppt/notesMasters/notesMaster1.xml" Id="Ra76cecb696fd46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96d30cff4f4f7e" /><Relationship Type="http://schemas.openxmlformats.org/officeDocument/2006/relationships/notesMaster" Target="/ppt/notesMasters/notesMaster1.xml" Id="R39ebec079ef849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Bom dia. Vou apresentar o Mãos em Ação, uma plataforma para uma ONG organizar campanhas solidárias e a participação de voluntários. O foco desta apresentação é mostrar como as necessidades dos usuários orientam o mapa de histórias e como essas histórias aparecem nas telas do sistema. Primeiro apresento a jornada, depois os protótipos e as regras que podemos verificar em cada 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README.md e docs/MAPA_DE_HISTORIAS.md.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proposta parte de uma situação comum no domínio: a ONG precisa coordenar necessidades, materiais e disponibilidade de pessoas. Se essas informações ficam separadas, fica difícil saber o que falta e quem pode ajudar. Por isso, considerei dois perfis principais. A gestão planeja as campanhas e controla os recursos. O voluntário oferece seu tempo e acompanha sua participação. Esses perfis são hipóteses do projeto acadêmico, não resultados de entrevistas com uma ONG real. Cada instalação atende uma 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docs/DOMINIO_E_DDD.md.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mapa organiza o sistema pela jornada do usuário. Na horizontal, temos as atividades, começando por entrar na rede, planejar a ação e mobilizar pessoas. Na vertical, temos os incrementos de escopo. A primeira linha reúne a operação essencial. A segunda acrescenta consistência, como controlar permissões e impedir conflito de horário. A terceira melhora o acompanhamento com avisos. Um exemplo de leitura é seguir a coluna de mobilização: primeiro existe turno e inscrição, depois entram regras de cancelamento e presença, e também os avisos sobre mudanças. Os três incrementos estão contemplados no projeto. A divisão serve para explicar a prioridade e a evolução das funcionalidades.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docs/MAPA_DE_HISTORIAS.md.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é a continuação do mesmo mapa, mantendo as três linhas de incremento. Depois de planejar e mobilizar, a ONG recebe recursos, distribui os itens e presta contas. Na operação essencial, uma doação aumenta o saldo e uma entrega reduz esse saldo. Na linha de consistência, os ajustes precisam de justificativa e o estorno corrige uma entrega sem apagar seu histórico. Na participação, entram o progresso das metas e o feedback após a ação. Essa leitura mostra que o sistema precisa completar uma atividade de negócio. Por exemplo, registrar uma entrega envolve conferir o estoque e manter o histórico, além de mostrar uma tela.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docs/MAPA_DE_HISTORIAS.md.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 histórias descrevem quem precisa de algo e por quê. A HU03 representa a gestora que cria uma campanha com necessidades para orientar a arrecadação. Seu critério de aceitação exige uma meta positiva antes da publicação. A HU08 representa o voluntário que quer participar de um turno. O sistema precisa verificar aprovação, vaga e conflito de horário. Esses critérios tornam a história verificável: consigo observar quando a ação deve funcionar e quando deve ser recusada. Na sequência, vou mostrar onde esses requisitos aparecem nos protótipos.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docs/MAPA_DE_HISTORIAS.md.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experiência começa por esta tela de acesso, que também oferece o cadastro de novos voluntários. Depois do cadastro, a pessoa aguarda aprovação da gestão para participar dos turnos. O sistema apresenta opções diferentes conforme o perfil. O protótipo já usa a identidade visual do produto, com verde, fundo claro e hierarquia de texto. As imagens que mostro são capturas da aplicação com dados fictícios de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docs/prototipos/login.png; docs/API.md.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tela de campanhas mostra o propósito da ação, sua situação e os itens necessários. Aqui podemos relacionar diretamente a HU03 ao protótipo. A gestão cria a campanha, informa as necessidades e publica quando o planejamento mínimo está pronto. A campanha em rascunho ainda precisa de necessidades. A campanha publicada pode receber doações e organizar turnos. O acompanhamento das metas ajuda a gestão a observar o que falta arrecadar. Encerrar uma campanha também tem uma regra: antes é necessário finalizar ou cancelar os turnos abertos.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docs/prototipos/campanhas.png; docs/REQUISITOS.md.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formulário detalha a primeira interação do fluxo de planejamento. A gestão informa nome e propósito, salva e depois cadastra as necessidades na tela da campanha. O formulário não solicita decisões que pertencem a outra etapa. Os campos obrigatórios e o retorno da operação orientam o usuário. O botão cancelar permite sair sem salvar. O estado inicial da campanha é rascunho, então o cadastro não publica a ação automaticamente.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docs/prototipos/nova-campanha.png; frontend/src/main.ts.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recorte mostra o turno na visão da gestão. A tela reúne atividade, datas, ocupação e participações. Para o voluntário, a ação principal é se inscrever. A HU08 exige que o cadastro esteja aprovado, que exista vaga e que o horário não conflite com outra inscrição. A HU09 permite cancelar antes do início para liberar a vaga. Se a gestão alterar o turno, os participantes recebem um aviso interno. Depois que o turno termina, a gestão conclui a atividade e confirma as presenças, que geram as horas de participação.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docs/prototipos/voluntariado.png; src/main/java/br/org/maosemacao/application/Actions.java.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estoque, a gestão observa o saldo de cada item e o histórico que explica esse saldo. A HU05 registra doações positivas. A HU06 permite corrigir uma contagem física por meio de ajuste justificado. Toda entrada ou saída mantém um registro. Um exemplo simples é receber dez unidades e distribuir três: o saldo passa a sete. O sistema recusa uma saída maior que o disponível. Neste projeto, o estoque pertence à ONG e é compartilhado entre as campanhas. A movimentação registra a campanha relacionada, mas não cria uma reserva exclusiva.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docs/prototipos/estoque.png; FUNCIONALIDADES_E_TESTES.md.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distribuição registra para onde os itens foram enviados e reduz o saldo correspondente. O protótipo exibido está no estado vazio, antes da primeira entrega. O botão de registrar inicia o formulário com campanha, item, quantidade e código do destinatário. A HU11 exige estoque suficiente e uma pessoa autorizada. Se os itens retornarem, a HU12 permite um estorno integral, com justificativa e uma única vez. A entrega anterior permanece no histórico. O código do destinatário evita usar dados pessoais desnecessários na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docs/prototipos/entregas.png; docs/API.md.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visão geral resume as campanhas ativas, o estoque e as próximas ações. No celular, o conteúdo se reorganiza em uma coluna e a navegação permite rolagem horizontal. O recorte à direita mostra o início dessa versão móvel. A proposta mantém os mesmos termos e a mesma identidade entre as telas. O objetivo é permitir que a gestão acompanhe a operação e que o voluntário encontre sua próxima ação mesmo em uma tela menor.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docs/prototipos/dashboard.png; docs/prototipos/mobile.png; docs/prototipos/README.md.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tabela resume a ligação entre o mapa e os protótipos. A história de planejar uma campanha aparece nas telas de campanha e necessidades, com a regra de publicação. A participação aparece no turno, com validação de vaga e horário. A doação aparece no estoque e a entrega aparece na distribuição. Assim, o mapa orienta quais atividades precisam existir, a história explica a necessidade do usuário e o protótipo mostra a interação. Os critérios de aceitação permitem verificar se o comportamento atende àquela necessidade.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docs/MAPA_DE_HISTORIAS.md.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concluir, o mapa apresenta a jornada e os incrementos de escopo. Os protótipos mostram como essa jornada se transforma em ações que o usuário consegue realizar. O fluxo de demonstração começa pela campanha e termina na entrega, com participação de voluntários e controle de estoque. O repositório reúne as histórias, as telas e a implementação. O desenvolvimento contou com apoio de IA, declarado na documentação. Fico à disposição para explicar uma história ou uma regra específica.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README.md; docs/USO_DE_IA.md.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APOIO, fora do tempo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slide é de apoio para perguntas sobre cadastro e autorização. A gestão consulta os voluntários e aprova quem ainda está pendente. A captura mostra contas de demonstração já aprovadas. A tabela também apresenta horas e reconhecimento. Um novo cadastro não pode escolher o papel de gestor nem se aprovar. O cadastro, a aprovação e as notificações compõem a entrada na rede do mapa de histórias.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docs/prototipos/pessoas.png; docs/API.md.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APOIO, fora do tempo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slide é de apoio para perguntas sobre mudanças de turno ou campanha. As notificações pertencem ao usuário autenticado e permitem marcar uma mensagem como lida. A captura mostra o estado sem mensagens. O sistema gera avisos quando existe uma alteração relevante para o participante, além do aviso de aprovação. A implementação usa caixa de entrada interna. Não envia e-mail, SMS ou notificações push.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docs/prototipos/notificacoes.png; FUNCIONALIDADES_E_TESTES.md.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APOIO, fora do tempo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slide é de apoio para perguntas sobre os resultados da ação. O gestor salva um retrato dos totais de doações, saldo, entregas e horas voluntárias. Esse relatório permanece com os valores do momento da geração e pode ser baixado como texto. A captura mostra o estado inicial, antes de salvar um balanço. As avaliações após presença confirmada completam o aprendizado sobre a ação, conforme a última coluna do mapa.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docs/prototipos/relatorios.png; FUNCIONALIDADES_E_TESTES.md.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39045f71842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38df9512547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ff7e8c3014d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8e2a5e8114f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8624cd44346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adf6bbf6445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2F72D6-AF2B-41EC-85B8-97FF5DC61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5E32E7-4E75-4037-8B9A-E5ABE9E2EF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273067-0A75-4A92-96E9-8A99BF334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530F7B-D218-4A1C-B977-C4F477925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565F28-DB01-42BC-B699-44A28A92C1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9E3D8B-0CF4-4CF1-816F-3AC89AC17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059EED-EA7C-4A92-8FD6-8FB8F901A6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299D11-C6B5-4456-BC04-B136D862B0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8C436C-C423-44A6-A314-1C4AAFDA5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2AC758-C853-40F7-96A8-95C94C9845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fde011c0a64b47" /><Relationship Type="http://schemas.openxmlformats.org/officeDocument/2006/relationships/slideLayout" Target="/ppt/slideLayouts/slideLayout1.xml" Id="R01f759da336e46cd" /><Relationship Type="http://schemas.openxmlformats.org/officeDocument/2006/relationships/slideLayout" Target="/ppt/slideLayouts/slideLayout2.xml" Id="Rc94f2045685e489a" /><Relationship Type="http://schemas.openxmlformats.org/officeDocument/2006/relationships/slideLayout" Target="/ppt/slideLayouts/slideLayout3.xml" Id="Rb47a75c95be24e13" /><Relationship Type="http://schemas.openxmlformats.org/officeDocument/2006/relationships/slideLayout" Target="/ppt/slideLayouts/slideLayout4.xml" Id="R8917c02e7364483c" /><Relationship Type="http://schemas.openxmlformats.org/officeDocument/2006/relationships/slideLayout" Target="/ppt/slideLayouts/slideLayout5.xml" Id="R60cce84b4ecd41f5" /><Relationship Type="http://schemas.openxmlformats.org/officeDocument/2006/relationships/slideLayout" Target="/ppt/slideLayouts/slideLayout6.xml" Id="R926baa5ac97847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f759da336e46cd"/>
    <p:sldLayoutId xmlns:r="http://schemas.openxmlformats.org/officeDocument/2006/relationships" id="2147483650" r:id="Rc94f2045685e489a"/>
    <p:sldLayoutId xmlns:r="http://schemas.openxmlformats.org/officeDocument/2006/relationships" id="2147483651" r:id="Rb47a75c95be24e13"/>
    <p:sldLayoutId xmlns:r="http://schemas.openxmlformats.org/officeDocument/2006/relationships" id="2147483652" r:id="R8917c02e7364483c"/>
    <p:sldLayoutId xmlns:r="http://schemas.openxmlformats.org/officeDocument/2006/relationships" id="2147483653" r:id="R60cce84b4ecd41f5"/>
    <p:sldLayoutId xmlns:r="http://schemas.openxmlformats.org/officeDocument/2006/relationships" id="2147483654" r:id="R926baa5ac97847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1adbdad884550" /><Relationship Type="http://schemas.openxmlformats.org/officeDocument/2006/relationships/notesSlide" Target="/ppt/notesSlides/notesSlide1.xml" Id="Ra3cc4e06adf0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aa52b315b4783" /><Relationship Type="http://schemas.openxmlformats.org/officeDocument/2006/relationships/notesSlide" Target="/ppt/notesSlides/notesSlide2.xml" Id="R5d7b756d7f934a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2d96208e74f34" /><Relationship Type="http://schemas.openxmlformats.org/officeDocument/2006/relationships/notesSlide" Target="/ppt/notesSlides/notesSlide3.xml" Id="R99a20c1eb6964e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01a59d5ff416d" /><Relationship Type="http://schemas.openxmlformats.org/officeDocument/2006/relationships/notesSlide" Target="/ppt/notesSlides/notesSlide4.xml" Id="R5fbde2eec5fc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64ef6125e43e8" /><Relationship Type="http://schemas.openxmlformats.org/officeDocument/2006/relationships/notesSlide" Target="/ppt/notesSlides/notesSlide5.xml" Id="Rcbb96fe562a6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d3092ef9a4b97" /><Relationship Type="http://schemas.openxmlformats.org/officeDocument/2006/relationships/image" Target="/ppt/media/image.png" Id="Rec3db1406b004711" /><Relationship Type="http://schemas.openxmlformats.org/officeDocument/2006/relationships/notesSlide" Target="/ppt/notesSlides/notesSlide6.xml" Id="R9440bce4b7734b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607b95296448a" /><Relationship Type="http://schemas.openxmlformats.org/officeDocument/2006/relationships/image" Target="/ppt/media/image2.png" Id="R621cc06d05604245" /><Relationship Type="http://schemas.openxmlformats.org/officeDocument/2006/relationships/notesSlide" Target="/ppt/notesSlides/notesSlide7.xml" Id="R35a61878ecf24c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e8a5a07eb4ef2" /><Relationship Type="http://schemas.openxmlformats.org/officeDocument/2006/relationships/image" Target="/ppt/media/image3.png" Id="Rfb35ed15256d427f" /><Relationship Type="http://schemas.openxmlformats.org/officeDocument/2006/relationships/notesSlide" Target="/ppt/notesSlides/notesSlide8.xml" Id="R6d5ada6a56d0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2863b49af492b" /><Relationship Type="http://schemas.openxmlformats.org/officeDocument/2006/relationships/image" Target="/ppt/media/image4.png" Id="Red52a65c40f74bd2" /><Relationship Type="http://schemas.openxmlformats.org/officeDocument/2006/relationships/notesSlide" Target="/ppt/notesSlides/notesSlide9.xml" Id="R526769956ee74d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2b631b9934ce3" /><Relationship Type="http://schemas.openxmlformats.org/officeDocument/2006/relationships/image" Target="/ppt/media/image5.png" Id="R0ada7f6427cb41c4" /><Relationship Type="http://schemas.openxmlformats.org/officeDocument/2006/relationships/notesSlide" Target="/ppt/notesSlides/notesSlide10.xml" Id="R4c7b9389c8a046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e052b84904b63" /><Relationship Type="http://schemas.openxmlformats.org/officeDocument/2006/relationships/image" Target="/ppt/media/image6.png" Id="Rc76bb9c9f0d14fc4" /><Relationship Type="http://schemas.openxmlformats.org/officeDocument/2006/relationships/notesSlide" Target="/ppt/notesSlides/notesSlide11.xml" Id="Ra6a87fcd542041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3644b1d704e08" /><Relationship Type="http://schemas.openxmlformats.org/officeDocument/2006/relationships/image" Target="/ppt/media/image7.png" Id="R5d8a40689c9d4ba8" /><Relationship Type="http://schemas.openxmlformats.org/officeDocument/2006/relationships/image" Target="/ppt/media/image8.png" Id="Ra8ca922ef8af49d0" /><Relationship Type="http://schemas.openxmlformats.org/officeDocument/2006/relationships/notesSlide" Target="/ppt/notesSlides/notesSlide12.xml" Id="R808bb22fb9954c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c16eb3bd84f9e" /><Relationship Type="http://schemas.openxmlformats.org/officeDocument/2006/relationships/notesSlide" Target="/ppt/notesSlides/notesSlide13.xml" Id="Ra021fb389ad941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f8d2902b9485f" /><Relationship Type="http://schemas.openxmlformats.org/officeDocument/2006/relationships/hyperlink" Target="https://github.com/GuitGud/maos-em-acao" TargetMode="External" Id="R6d8c8e6bfd044685" /><Relationship Type="http://schemas.openxmlformats.org/officeDocument/2006/relationships/notesSlide" Target="/ppt/notesSlides/notesSlide14.xml" Id="R60874832defe4b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87a98193542a8" /><Relationship Type="http://schemas.openxmlformats.org/officeDocument/2006/relationships/image" Target="/ppt/media/image9.png" Id="R149d1ad6fb584831" /><Relationship Type="http://schemas.openxmlformats.org/officeDocument/2006/relationships/notesSlide" Target="/ppt/notesSlides/notesSlide15.xml" Id="R3cfc0e53031843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8f4a6d7634478" /><Relationship Type="http://schemas.openxmlformats.org/officeDocument/2006/relationships/image" Target="/ppt/media/image10.png" Id="Rb75c8f14a80a48f6" /><Relationship Type="http://schemas.openxmlformats.org/officeDocument/2006/relationships/notesSlide" Target="/ppt/notesSlides/notesSlide16.xml" Id="R0a7a5e756a8540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d0b7ea1b94cbd" /><Relationship Type="http://schemas.openxmlformats.org/officeDocument/2006/relationships/image" Target="/ppt/media/image11.png" Id="Rf556c93f988045ad" /><Relationship Type="http://schemas.openxmlformats.org/officeDocument/2006/relationships/notesSlide" Target="/ppt/notesSlides/notesSlide17.xml" Id="R09cd82fe658b49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1CD2DF9-4AB5-4B85-BD8D-BA49474A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Mãos em Ação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9553EAF-05B4-41F8-A09A-95592345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DCE6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0">
                <a:solidFill>
                  <a:srgbClr val="DCE6B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CE6B8"/>
                </a:solidFill>
                <a:latin typeface="Arial"/>
                <a:ea typeface="Arial"/>
                <a:cs typeface="Arial"/>
              </a:rPr>
              <a:t>Mapa de histórias de usuário</a:t>
            </a:r>
          </a:p>
          <a:p xmlns:a="http://schemas.openxmlformats.org/drawingml/2006/main">
            <a:pPr algn="l">
              <a:defRPr sz="3150" b="0">
                <a:solidFill>
                  <a:srgbClr val="DCE6B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CE6B8"/>
                </a:solidFill>
                <a:latin typeface="Arial"/>
                <a:ea typeface="Arial"/>
                <a:cs typeface="Arial"/>
              </a:rPr>
              <a:t>e protótipos de alta fidelidade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9AD671-27F1-4806-9065-CA2A2D2B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Guilherme Alcoforado Rabelo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A651B5-4E7F-41FA-A1DF-44E0400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CE6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CE6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6B8"/>
                </a:solidFill>
                <a:latin typeface="Arial"/>
                <a:ea typeface="Arial"/>
                <a:cs typeface="Arial"/>
              </a:rPr>
              <a:t>14 de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826508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0DF5E47-844B-49B9-B237-C6F1F811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Problema e usuários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E8A5EA-51B2-4F56-922B-BE943EE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FF19CCC-FC4A-4388-ACB0-F6F2ED0E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Uma ONG precisa saber o que falta,</a:t>
            </a:r>
          </a:p>
          <a:p xmlns:a="http://schemas.openxmlformats.org/drawingml/2006/main">
            <a:pPr algn="l">
              <a:defRPr sz="27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quem participa e o que já foi entregue.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223686-C966-484E-BD33-BA6CA650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289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Gestão da ONG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9F73494-805A-4C4B-A856-96693830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Planeja campanhas e necessidades.</a:t>
            </a:r>
          </a:p>
          <a:p xmlns:a="http://schemas.openxmlformats.org/drawingml/2006/main">
            <a:pPr algn="l">
              <a:defRPr sz="21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Organiza turnos e aprova cadastros.</a:t>
            </a:r>
          </a:p>
          <a:p xmlns:a="http://schemas.openxmlformats.org/drawingml/2006/main">
            <a:pPr algn="l">
              <a:defRPr sz="21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Controla doações e distribuição.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04006D-B5A5-45A5-8991-A6CF7716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Voluntário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4D699CE-84D2-4608-8C4D-66D62EA0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Encontra turnos disponíveis.</a:t>
            </a:r>
          </a:p>
          <a:p xmlns:a="http://schemas.openxmlformats.org/drawingml/2006/main">
            <a:pPr algn="l">
              <a:defRPr sz="21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Acompanha alterações da ação.</a:t>
            </a:r>
          </a:p>
          <a:p xmlns:a="http://schemas.openxmlformats.org/drawingml/2006/main">
            <a:pPr algn="l">
              <a:defRPr sz="210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Participa e avalia a experiência.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9961F98-753C-429B-A9FB-E0BF93F1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817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Perfis propostos para o trabalho acadêmico. Uma ONG por instalação.</a:t>
            </a:r>
          </a:p>
        </p:txBody>
      </p:sp>
    </p:spTree>
    <p:extLst>
      <p:ext uri="{BB962C8B-B14F-4D97-AF65-F5344CB8AC3E}">
        <p14:creationId xmlns:p14="http://schemas.microsoft.com/office/powerpoint/2010/main" val="1420346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F775A71-18B4-4F2D-8461-D000DF13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Mapa de histórias: organização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329D711-EFC2-4AB2-88A4-6C115B3A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1DEF6B-C3B7-42A7-AA54-B096EA30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Primeira parte da jornada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4D7F1-9F52-41D6-8316-D819499061AF}"/>
              </a:ext>
            </a:extLst>
          </p:cNvPr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4476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95450"/>
                <a:gridCol w="3181350"/>
                <a:gridCol w="3181350"/>
                <a:gridCol w="3181350"/>
              </a:tblGrid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Incremento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Entrar na rede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Planejar a ação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Mobilizar pessoas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1  Operação</a:t>
                      </a:r>
                    </a:p>
                    <a:p>
                      <a:r>
                        <a:rPr sz="1800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essencial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Cadastro, login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 aprovação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Campanha, catálogo,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metas e publicação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Turno e inscrição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2  Consistência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Perfil e restrições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por ator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Edição e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encerramento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Cancelamento, conflito,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lotação e presença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3  Participação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Aviso de aprovação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Aviso de alteração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de campanha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Aviso de mudança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de turno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00C21FA-D2D2-4BD6-9874-148D108D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Horizontal: sequência de atividades. Vertical: incrementos de escopo.</a:t>
            </a:r>
          </a:p>
        </p:txBody>
      </p:sp>
    </p:spTree>
    <p:extLst>
      <p:ext uri="{BB962C8B-B14F-4D97-AF65-F5344CB8AC3E}">
        <p14:creationId xmlns:p14="http://schemas.microsoft.com/office/powerpoint/2010/main" val="1488399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8F6F758-DF31-4969-8883-41C9706C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Mapa de histórias: distribuição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18EB55F-4024-4673-A40C-F6E820CA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C57B70-90DE-494E-B509-7A375BB9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Continuação da jornada com os mesmos incrementos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34F9E-941F-4201-8772-D16E74BEF9AD}"/>
              </a:ext>
            </a:extLst>
          </p:cNvPr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4476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95450"/>
                <a:gridCol w="3181350"/>
                <a:gridCol w="3181350"/>
                <a:gridCol w="3181350"/>
              </a:tblGrid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Incremento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Receber recursos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Distribuir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Aprender 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prestar contas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1  Operação</a:t>
                      </a:r>
                    </a:p>
                    <a:p>
                      <a:r>
                        <a:rPr sz="1800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essencial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Doação com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entrada de saldo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Entrega com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baixa de saldo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Balanço salvo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2  Consistência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Ajuste justificado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 trilha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Estorno único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 autorização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Horas e download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3  Participação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Progresso de metas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para gestão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Pontuação por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estratégia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Feedback, selos e</a:t>
                      </a:r>
                    </a:p>
                    <a:p>
                      <a:r>
                        <a:rPr sz="1800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exclusão de snapshot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0C01C5D-FC2F-4C3E-B9EF-08F778C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Os incrementos organizam o escopo já contemplado no projeto.</a:t>
            </a:r>
          </a:p>
        </p:txBody>
      </p:sp>
    </p:spTree>
    <p:extLst>
      <p:ext uri="{BB962C8B-B14F-4D97-AF65-F5344CB8AC3E}">
        <p14:creationId xmlns:p14="http://schemas.microsoft.com/office/powerpoint/2010/main" val="197499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8A3FFC-8F66-4D3B-99A3-16131FCE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Histórias e critérios de aceitação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DC3DDE9-9237-493C-97BD-C7E16DEF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4B6CBF-F8C9-495E-A816-4115FD14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HU03  Planejar a campanha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F742E3-F6CD-413A-8CD4-B980F166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Como gestora, quero criar uma</a:t>
            </a:r>
          </a:p>
          <a:p xmlns:a="http://schemas.openxmlformats.org/drawingml/2006/main">
            <a:pPr algn="l">
              <a:defRPr sz="225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campanha com necessidades para</a:t>
            </a:r>
          </a:p>
          <a:p xmlns:a="http://schemas.openxmlformats.org/drawingml/2006/main">
            <a:pPr algn="l">
              <a:defRPr sz="225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orientar a arrecadação.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0C7FDE0-59B6-4071-AB78-90270C06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624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Critério de aceitação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E47CC2B-7B5E-4845-8299-784646C5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958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A publicação exige pelo menos</a:t>
            </a:r>
          </a:p>
          <a:p xmlns:a="http://schemas.openxmlformats.org/drawingml/2006/main">
            <a:pPr algn="l">
              <a:defRPr sz="20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uma necessidade com meta positiva.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BE8F1EB-BF5F-42E8-B4E1-06F43BCC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HU08  Participar de um turno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300456-F60B-49EE-A76D-78215D56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Como voluntário, quero me inscrever</a:t>
            </a:r>
          </a:p>
          <a:p xmlns:a="http://schemas.openxmlformats.org/drawingml/2006/main">
            <a:pPr algn="l">
              <a:defRPr sz="225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em um turno disponível para</a:t>
            </a:r>
          </a:p>
          <a:p xmlns:a="http://schemas.openxmlformats.org/drawingml/2006/main">
            <a:pPr algn="l">
              <a:defRPr sz="2250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participar da ação.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437223E-0294-4F46-9B50-9EF0BEEA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624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Critério de aceitação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090419E-3294-4988-9476-81D05F80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958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Cadastro aprovado, vaga disponível</a:t>
            </a:r>
          </a:p>
          <a:p xmlns:a="http://schemas.openxmlformats.org/drawingml/2006/main">
            <a:pPr algn="l">
              <a:defRPr sz="20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 ausência de conflito de horário.</a:t>
            </a:r>
          </a:p>
        </p:txBody>
      </p:sp>
    </p:spTree>
    <p:extLst>
      <p:ext uri="{BB962C8B-B14F-4D97-AF65-F5344CB8AC3E}">
        <p14:creationId xmlns:p14="http://schemas.microsoft.com/office/powerpoint/2010/main" val="1840850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2709CC5-C0EA-4DAF-B528-40CCA7B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Acesso à plataforma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A3B2C80-FF3D-4F98-8F26-C66924E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1059-C9CF-43FF-913E-45EA2126F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db1406b004711"/>
          <a:stretch xmlns:a="http://schemas.openxmlformats.org/drawingml/2006/main"/>
        </p:blipFill>
        <p:spPr>
          <a:xfrm xmlns:a="http://schemas.openxmlformats.org/drawingml/2006/main">
            <a:off x="1068705" y="1504950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79B9F7C-D13D-4221-84D0-E5830495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HU01 e HU02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66A9D05-F8B8-4484-AC5B-2ED703C1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Cadastro e aprovação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antes da participação.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C2DFEF0-8E58-4646-850E-E83D4B2E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Perfis de acesso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5078072-DF6D-46E3-8EA4-4A8F0315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Gestão e voluntários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recebem opções adequadas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às suas tarefas.</a:t>
            </a:r>
          </a:p>
        </p:txBody>
      </p:sp>
    </p:spTree>
    <p:extLst>
      <p:ext uri="{BB962C8B-B14F-4D97-AF65-F5344CB8AC3E}">
        <p14:creationId xmlns:p14="http://schemas.microsoft.com/office/powerpoint/2010/main" val="1429689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7DF6A27-E959-4355-9F3F-96114ABD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Campanhas e necessidades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A156347-3D31-4CA0-9F34-A725791E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910D7-FE21-4880-96D8-E5CFD8B04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cc06d05604245"/>
          <a:srcRect xmlns:a="http://schemas.openxmlformats.org/drawingml/2006/main" l="17000" t="9000" r="1500" b="15000"/>
          <a:stretch xmlns:a="http://schemas.openxmlformats.org/drawingml/2006/main"/>
        </p:blipFill>
        <p:spPr>
          <a:xfrm xmlns:a="http://schemas.openxmlformats.org/drawingml/2006/main">
            <a:off x="476250" y="1495425"/>
            <a:ext cx="790575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21A9D55-7827-4B8C-89C8-577D3FCC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HU03 e HU04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CEE2F35-4FEA-4C3B-BCF2-A2000401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Propósito, necessidades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 situação da campanha.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C142DB0-ACDA-42EC-81AE-20EE77CB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Regra visível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E51FB75-C6A8-4A01-92FC-ACD68A90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Publicar exige meta.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Encerrar exige ausência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de turnos abertos.</a:t>
            </a:r>
          </a:p>
        </p:txBody>
      </p:sp>
    </p:spTree>
    <p:extLst>
      <p:ext uri="{BB962C8B-B14F-4D97-AF65-F5344CB8AC3E}">
        <p14:creationId xmlns:p14="http://schemas.microsoft.com/office/powerpoint/2010/main" val="1775063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71C7B6C-DD7F-4412-98C8-B8E50CE3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Criação de uma campanha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E54C3A-F6DF-4EBB-AB0A-6887399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0783A-FC30-4030-81A6-2C0545553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5ed15256d427f"/>
          <a:srcRect xmlns:a="http://schemas.openxmlformats.org/drawingml/2006/main" l="30000" t="30000" r="30000" b="30000"/>
          <a:stretch xmlns:a="http://schemas.openxmlformats.org/drawingml/2006/main"/>
        </p:blipFill>
        <p:spPr>
          <a:xfrm xmlns:a="http://schemas.openxmlformats.org/drawingml/2006/main">
            <a:off x="619125" y="1524000"/>
            <a:ext cx="74295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A0E07EB-5B25-4471-9AB7-D7F6C73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Entrada objetiva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97056EC-8D35-42C8-8369-782D02D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Nome da campanha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 descrição do propósito.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BDB2B7E-3BAF-4602-9DFF-22AEAA5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Próxima etapa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ACAFF89-D061-4346-80C6-F191A90B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Salvar o rascunho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 definir necessidades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antes de publicar.</a:t>
            </a:r>
          </a:p>
        </p:txBody>
      </p:sp>
    </p:spTree>
    <p:extLst>
      <p:ext uri="{BB962C8B-B14F-4D97-AF65-F5344CB8AC3E}">
        <p14:creationId xmlns:p14="http://schemas.microsoft.com/office/powerpoint/2010/main" val="1469881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B878300-3CBD-4154-94FB-693D98AB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Turnos e inscrições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E433FDB-979F-456F-B1E6-FAF05D75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7F47E-A72F-48C5-98EC-A685CBBA8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2a65c40f74bd2"/>
          <a:srcRect xmlns:a="http://schemas.openxmlformats.org/drawingml/2006/main" l="18000" t="22000" r="41500" b="34000"/>
          <a:stretch xmlns:a="http://schemas.openxmlformats.org/drawingml/2006/main"/>
        </p:blipFill>
        <p:spPr>
          <a:xfrm xmlns:a="http://schemas.openxmlformats.org/drawingml/2006/main">
            <a:off x="571500" y="1571625"/>
            <a:ext cx="752475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824DD05-E26B-4DC8-9E7A-B398613C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HU08 e HU09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90B61EB-D794-4A27-BCDE-6A44076B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Inscrição e cancelamento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com disponibilidade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 regras de horário.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9E32081-3F25-4415-85A7-A896FFDD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HU10 e HU13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54A3678-C587-46AC-BC7A-FB8A05BF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Presença gera horas.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Alteração de turno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gera notificação.</a:t>
            </a:r>
          </a:p>
        </p:txBody>
      </p:sp>
    </p:spTree>
    <p:extLst>
      <p:ext uri="{BB962C8B-B14F-4D97-AF65-F5344CB8AC3E}">
        <p14:creationId xmlns:p14="http://schemas.microsoft.com/office/powerpoint/2010/main" val="539945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F47C2B99-34A2-443F-9F48-ECFE1BD0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Estoque e histórico de doações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1D562F6-963C-4933-BABC-AFCC57BD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69DD7-CCB0-4438-9CA2-A21947672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a7f6427cb41c4"/>
          <a:srcRect xmlns:a="http://schemas.openxmlformats.org/drawingml/2006/main" l="17000" t="10000" r="1500" b="20000"/>
          <a:stretch xmlns:a="http://schemas.openxmlformats.org/drawingml/2006/main"/>
        </p:blipFill>
        <p:spPr>
          <a:xfrm xmlns:a="http://schemas.openxmlformats.org/drawingml/2006/main">
            <a:off x="476250" y="1543050"/>
            <a:ext cx="7905750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315C340-F7F9-40A1-9FD3-455D6412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HU05 e HU06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C5A6E74-6617-431F-9CA6-F931896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Doações e ajustes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com histórico e motivo.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436EBB6-8303-4DB2-86FD-7A8C9700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Saldo consistente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6C4B7A3-641A-442F-ACA6-9299799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Uma saída nunca pode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deixar o estoque negativo.</a:t>
            </a:r>
          </a:p>
        </p:txBody>
      </p:sp>
    </p:spTree>
    <p:extLst>
      <p:ext uri="{BB962C8B-B14F-4D97-AF65-F5344CB8AC3E}">
        <p14:creationId xmlns:p14="http://schemas.microsoft.com/office/powerpoint/2010/main" val="1681000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A02F814-273D-40E0-AEDF-A2E5B6B3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Registro de entregas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BBE2C51-0B24-4525-A096-A18F534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0053F-D8E6-473E-BA76-465275DB6D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bb9c9f0d14fc4"/>
          <a:srcRect xmlns:a="http://schemas.openxmlformats.org/drawingml/2006/main" l="17000" t="10000" r="1500" b="35000"/>
          <a:stretch xmlns:a="http://schemas.openxmlformats.org/drawingml/2006/main"/>
        </p:blipFill>
        <p:spPr>
          <a:xfrm xmlns:a="http://schemas.openxmlformats.org/drawingml/2006/main">
            <a:off x="476250" y="1619250"/>
            <a:ext cx="790575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4FC1D52-B655-4593-BE2C-69F1044B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HU11 e HU12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9602816-8BA9-42DF-A293-AB90D3CF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Registrar distribuição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 corrigir devoluções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com estorno.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0417C09-20AE-4599-B38D-34380E0E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Estado vazio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7BE689D-42DA-4C58-998F-CAA381F0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A tela orienta o cadastro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da primeira entrega.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17761AA-CC16-4A5A-A32C-31957BC4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790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Exemplo de regra: receber 10, entregar 3, manter saldo 7.</a:t>
            </a:r>
          </a:p>
        </p:txBody>
      </p:sp>
    </p:spTree>
    <p:extLst>
      <p:ext uri="{BB962C8B-B14F-4D97-AF65-F5344CB8AC3E}">
        <p14:creationId xmlns:p14="http://schemas.microsoft.com/office/powerpoint/2010/main" val="1829596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F8E887E-7B73-41CC-85D9-644AE74E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Navegação e uso no celular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21ED34-C69F-4319-94F8-FF2F89C8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AAC43-79DF-46CF-869D-F4723590B2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a40689c9d4ba8"/>
          <a:stretch xmlns:a="http://schemas.openxmlformats.org/drawingml/2006/main"/>
        </p:blipFill>
        <p:spPr>
          <a:xfrm xmlns:a="http://schemas.openxmlformats.org/drawingml/2006/main">
            <a:off x="1535451" y="1428750"/>
            <a:ext cx="6263597" cy="46672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D6A00-B34D-40BB-8BC2-D954772C2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a922ef8af49d0"/>
          <a:srcRect xmlns:a="http://schemas.openxmlformats.org/drawingml/2006/main" l="0" t="0" r="0" b="45000"/>
          <a:stretch xmlns:a="http://schemas.openxmlformats.org/drawingml/2006/main"/>
        </p:blipFill>
        <p:spPr>
          <a:xfrm xmlns:a="http://schemas.openxmlformats.org/drawingml/2006/main">
            <a:off x="9334500" y="1447800"/>
            <a:ext cx="2381250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687D81B1-61A8-4AEB-AC68-985342EF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29350"/>
            <a:ext cx="762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Visão geral no computador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ECEFC98E-F0AF-41A3-A1A1-8D01FD56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293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Recorte móvel</a:t>
            </a:r>
          </a:p>
        </p:txBody>
      </p:sp>
    </p:spTree>
    <p:extLst>
      <p:ext uri="{BB962C8B-B14F-4D97-AF65-F5344CB8AC3E}">
        <p14:creationId xmlns:p14="http://schemas.microsoft.com/office/powerpoint/2010/main" val="1825889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F2225B73-0BF9-4C29-8BC4-FF8D5554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Relação entre história, tela e regra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B22884-D5BC-4156-93ED-796EED9D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DC4FF-7D5E-44CA-BBC5-8AF0260D7C7C}"/>
              </a:ext>
            </a:extLst>
          </p:cNvPr>
          <p:cNvGraphicFramePr/>
          <p:nvPr/>
        </p:nvGraphicFramePr>
        <p:xfrm>
          <a:off xmlns:a="http://schemas.openxmlformats.org/drawingml/2006/main" x="476250" y="1552575"/>
          <a:ext xmlns:a="http://schemas.openxmlformats.org/drawingml/2006/main" cx="11239500" cy="4324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3238500"/>
                <a:gridCol w="4857750"/>
              </a:tblGrid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História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Tela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Critério verificável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T w="28575">
                      <a:solidFill>
                        <a:srgbClr val="F7F8F3"/>
                      </a:solidFill>
                      <a:prstDash val="solid"/>
                    </a:lnT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175C48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HU03  Planejar campanha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Campanhas e necessidades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Publicar só com uma meta positiva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HU08  Participar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Turnos de voluntariado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Aprovação, vaga e horário compatível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HU05  Registrar doação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Estoque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Entrada positiva atualiza o saldo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HU11  Entregar itens</a:t>
                      </a:r>
                    </a:p>
                  </a:txBody>
                  <a:tcPr marL="142875" marR="114300" marT="123825" marB="95250" anchor="ctr">
                    <a:lnL w="28575">
                      <a:solidFill>
                        <a:srgbClr val="F7F8F3"/>
                      </a:solidFill>
                      <a:prstDash val="solid"/>
                    </a:lnL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E5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Entregas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A31"/>
                          </a:solidFill>
                          <a:latin typeface="Arial"/>
                          <a:ea typeface="Arial"/>
                          <a:cs typeface="Arial"/>
                        </a:rPr>
                        <a:t>Baixa exige estoque suficiente</a:t>
                      </a:r>
                    </a:p>
                  </a:txBody>
                  <a:tcPr marL="142875" marR="114300" marT="123825" marB="95250" anchor="ctr">
                    <a:lnR w="28575">
                      <a:solidFill>
                        <a:srgbClr val="F7F8F3"/>
                      </a:solidFill>
                      <a:prstDash val="solid"/>
                    </a:lnR>
                    <a:lnB w="28575">
                      <a:solidFill>
                        <a:srgbClr val="F7F8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8161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F6B5120-0A63-4483-B22B-4F2015EB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Demonstração e materiais do projeto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86A0B15-34DB-4428-84F0-629B8563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96380FE-18F3-4C93-AF3B-BB775DB0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Fluxo para demonstrar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B11511-4D6A-4EF7-9EF7-62074A10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6950"/>
            <a:ext cx="1076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1   Criar campanha e definir necessidades</a:t>
            </a:r>
          </a:p>
          <a:p xmlns:a="http://schemas.openxmlformats.org/drawingml/2006/main">
            <a:pPr algn="l">
              <a:defRPr sz="23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2   Publicar e organizar um turno</a:t>
            </a:r>
          </a:p>
          <a:p xmlns:a="http://schemas.openxmlformats.org/drawingml/2006/main">
            <a:pPr algn="l">
              <a:defRPr sz="23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3   Registrar doação e participação</a:t>
            </a:r>
          </a:p>
          <a:p xmlns:a="http://schemas.openxmlformats.org/drawingml/2006/main">
            <a:pPr algn="l">
              <a:defRPr sz="232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4   Registrar entrega e conferir o saldo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101D612-C03A-4449-8DF3-DEFE23F9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5C48"/>
                </a:solidFill>
                <a:latin typeface="Arial"/>
                <a:ea typeface="Arial"/>
                <a:cs typeface="Arial"/>
                <a:hlinkClick xmlns:r="http://schemas.openxmlformats.org/officeDocument/2006/relationships" r:id="R6d8c8e6bfd044685"/>
              </a:rPr>
              <a:t>github.com/GuitGud/maos-em-acao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991D9F9-0660-4B4E-AF98-F344990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Desenvolvimento com apoio de IA, declarado no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1736445307"/>
      </p:ext>
    </p:extLst>
  </p:cSld>
</p:sld>
</file>

<file path=ppt/slides/slide1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9780535E-AAAC-4912-A1C1-B70CE814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Aprovação e pessoas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74AC6F-69EB-44BB-B41E-7E469D3A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E1F05-47ED-4695-B35E-D29E72E60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d1ad6fb584831"/>
          <a:srcRect xmlns:a="http://schemas.openxmlformats.org/drawingml/2006/main" l="17000" t="10000" r="1500" b="30000"/>
          <a:stretch xmlns:a="http://schemas.openxmlformats.org/drawingml/2006/main"/>
        </p:blipFill>
        <p:spPr>
          <a:xfrm xmlns:a="http://schemas.openxmlformats.org/drawingml/2006/main">
            <a:off x="476250" y="1571625"/>
            <a:ext cx="790575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647B6AD-F20B-4309-A310-947C19E2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HU01 e HU02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6E6CFFE-74FC-4E15-8DAC-677D5299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Cadastro pendente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até a aprovação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da gestão.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5753EC6-8CB0-46F9-AFF9-AAB4BD54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HU16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E0136F8-2501-4DDC-92B4-B7C0415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Horas confirmadas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orientam os selos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de participação.</a:t>
            </a:r>
          </a:p>
        </p:txBody>
      </p:sp>
    </p:spTree>
    <p:extLst>
      <p:ext uri="{BB962C8B-B14F-4D97-AF65-F5344CB8AC3E}">
        <p14:creationId xmlns:p14="http://schemas.microsoft.com/office/powerpoint/2010/main" val="427178331"/>
      </p:ext>
    </p:extLst>
  </p:cSld>
</p:sld>
</file>

<file path=ppt/slides/slide1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2B9986C-9C9F-40CF-A42E-4E4B2129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Notificações internas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7F32E7-95DD-4AF3-B4BC-9BE7CB38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3A671-709A-4A40-8D43-DD710C957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c8f14a80a48f6"/>
          <a:srcRect xmlns:a="http://schemas.openxmlformats.org/drawingml/2006/main" l="17000" t="10000" r="1500" b="35000"/>
          <a:stretch xmlns:a="http://schemas.openxmlformats.org/drawingml/2006/main"/>
        </p:blipFill>
        <p:spPr>
          <a:xfrm xmlns:a="http://schemas.openxmlformats.org/drawingml/2006/main">
            <a:off x="476250" y="1571625"/>
            <a:ext cx="7905750" cy="4048125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BC61C14-B020-4258-AB3B-F5168613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HU13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5AB8390-9173-4023-825F-43F72178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Mudanças de campanha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ou turno chegam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à caixa de entrada.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B38779C-1668-4F0A-864F-3DBE6FD1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Limite do escopo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568CECF-65BD-4D9D-8974-BA0ADC53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Avisos dentro do sistema,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sem e-mail ou SMS.</a:t>
            </a:r>
          </a:p>
        </p:txBody>
      </p:sp>
    </p:spTree>
    <p:extLst>
      <p:ext uri="{BB962C8B-B14F-4D97-AF65-F5344CB8AC3E}">
        <p14:creationId xmlns:p14="http://schemas.microsoft.com/office/powerpoint/2010/main" val="1129906603"/>
      </p:ext>
    </p:extLst>
  </p:cSld>
</p:sld>
</file>

<file path=ppt/slides/slide1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F8B32C0-F076-41EC-846F-89E5864A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Relatórios e prestação de contas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C24D287-83F6-4B62-ACCA-E584B084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9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96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BABD2-5F2D-4FC8-9B10-F47B71457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6c93f988045ad"/>
          <a:srcRect xmlns:a="http://schemas.openxmlformats.org/drawingml/2006/main" l="17000" t="10000" r="1500" b="35000"/>
          <a:stretch xmlns:a="http://schemas.openxmlformats.org/drawingml/2006/main"/>
        </p:blipFill>
        <p:spPr>
          <a:xfrm xmlns:a="http://schemas.openxmlformats.org/drawingml/2006/main">
            <a:off x="476250" y="1571625"/>
            <a:ext cx="7905750" cy="4048125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FAC081B-AE91-475B-B282-0A5D2B8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HU14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2EECDFD-5341-4A63-9CB0-9CCDD116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Salvar e baixar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o balanço da ação.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442839F-2EFA-43CC-96E0-D2EA65C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5C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C48"/>
                </a:solidFill>
                <a:latin typeface="Arial"/>
                <a:ea typeface="Arial"/>
                <a:cs typeface="Arial"/>
              </a:rPr>
              <a:t>Acesso da gestão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1B9C25A-BB40-4085-A20A-407302FF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Relatório preserva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os totais do momento</a:t>
            </a:r>
          </a:p>
          <a:p xmlns:a="http://schemas.openxmlformats.org/drawingml/2006/main">
            <a:pPr algn="l">
              <a:defRPr sz="1875" b="0">
                <a:solidFill>
                  <a:srgbClr val="213A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31"/>
                </a:solidFill>
                <a:latin typeface="Arial"/>
                <a:ea typeface="Arial"/>
                <a:cs typeface="Arial"/>
              </a:rPr>
              <a:t>em que foi gerado.</a:t>
            </a:r>
          </a:p>
        </p:txBody>
      </p:sp>
    </p:spTree>
    <p:extLst>
      <p:ext uri="{BB962C8B-B14F-4D97-AF65-F5344CB8AC3E}">
        <p14:creationId xmlns:p14="http://schemas.microsoft.com/office/powerpoint/2010/main" val="103553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2026-10-14T12:33:01.9030000Z</dcterms:created>
  <dcterms:modified xsi:type="dcterms:W3CDTF">2026-10-14T12:33:01.9030000Z</dcterms:modified>
</coreProperties>
</file>